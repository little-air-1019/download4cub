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81288CA-D0F3-40D1-8297-EACEC5A1551A}">
  <a:tblStyle styleId="{C81288CA-D0F3-40D1-8297-EACEC5A1551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2.png"/><Relationship Id="rId5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0.png"/><Relationship Id="rId9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26.png"/><Relationship Id="rId7" Type="http://schemas.openxmlformats.org/officeDocument/2006/relationships/image" Target="../media/image11.png"/><Relationship Id="rId8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1.png"/><Relationship Id="rId4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2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17.png"/><Relationship Id="rId6" Type="http://schemas.openxmlformats.org/officeDocument/2006/relationships/image" Target="../media/image2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2.png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3238500" y="571500"/>
            <a:ext cx="5715000" cy="5715000"/>
          </a:xfrm>
          <a:prstGeom prst="roundRect">
            <a:avLst>
              <a:gd fmla="val 8333" name="adj"/>
            </a:avLst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62000" y="2195661"/>
            <a:ext cx="11201400" cy="164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數位賦能：解構金融業務的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5400" u="none" cap="none" strike="noStrike">
                <a:solidFill>
                  <a:srgbClr val="FFFFFF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Java 底層邏輯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62000" y="4031902"/>
            <a:ext cx="106680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D10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從資深業務視角看系統自動化與擴充設計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952500" y="2122437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資深同仁的痛：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行銷方案變動快，系統修改卻慢。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952500" y="3044279"/>
            <a:ext cx="4857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核心問題：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業務邏輯與系統架構的「耦合度」過高，</a:t>
            </a:r>
            <a:b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導致牽一髮動全身。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52500" y="4331791"/>
            <a:ext cx="4857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Java 的價值：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透過「解耦」實現模組化，支撐高頻變動的</a:t>
            </a:r>
            <a:b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金融產品。</a:t>
            </a:r>
            <a:endParaRPr/>
          </a:p>
        </p:txBody>
      </p:sp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為什麼「加一個功能」要動全身？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99" name="Google Shape;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17006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91904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4379416"/>
            <a:ext cx="177849" cy="257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6" name="Google Shape;10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936551"/>
            <a:ext cx="3429000" cy="386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81500" y="1936551"/>
            <a:ext cx="3429000" cy="386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0" y="1936551"/>
            <a:ext cx="3429000" cy="38687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52500" y="2374701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952500" y="3555801"/>
            <a:ext cx="170021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抽象化能力</a:t>
            </a:r>
            <a:endParaRPr/>
          </a:p>
        </p:txBody>
      </p:sp>
      <p:sp>
        <p:nvSpPr>
          <p:cNvPr id="111" name="Google Shape;111;p15"/>
          <p:cNvSpPr txBox="1"/>
          <p:nvPr/>
        </p:nvSpPr>
        <p:spPr>
          <a:xfrm>
            <a:off x="952500" y="4184451"/>
            <a:ext cx="2667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將複雜貸款產品模型化，把現實世界的需求轉譯為系統可理解的語言。</a:t>
            </a:r>
            <a:endParaRPr/>
          </a:p>
        </p:txBody>
      </p:sp>
      <p:pic>
        <p:nvPicPr>
          <p:cNvPr descr="image.png" id="112" name="Google Shape;112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62500" y="2374701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4762500" y="3555801"/>
            <a:ext cx="170021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邏輯嚴密性</a:t>
            </a:r>
            <a:endParaRPr/>
          </a:p>
        </p:txBody>
      </p:sp>
      <p:sp>
        <p:nvSpPr>
          <p:cNvPr id="114" name="Google Shape;114;p15"/>
          <p:cNvSpPr txBox="1"/>
          <p:nvPr/>
        </p:nvSpPr>
        <p:spPr>
          <a:xfrm>
            <a:off x="4762500" y="4184451"/>
            <a:ext cx="2667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掌握條件分支的窮舉邏輯，確保各種情境與業務條件都被精準涵蓋。</a:t>
            </a:r>
            <a:endParaRPr/>
          </a:p>
        </p:txBody>
      </p:sp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2500" y="2374701"/>
            <a:ext cx="952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572500" y="3555801"/>
            <a:ext cx="170021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系統架構觀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8572500" y="4184451"/>
            <a:ext cx="26670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理解為什麼「穩定」與「彈性」能並存，構建長遠的金融科技基礎。</a:t>
            </a:r>
            <a:endParaRPr/>
          </a:p>
        </p:txBody>
      </p:sp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21283" y="2584251"/>
            <a:ext cx="41493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031283" y="2584251"/>
            <a:ext cx="414932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0" name="Google Shape;12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841283" y="2584251"/>
            <a:ext cx="414932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5"/>
          <p:cNvSpPr txBox="1"/>
          <p:nvPr/>
        </p:nvSpPr>
        <p:spPr>
          <a:xfrm>
            <a:off x="762000" y="571500"/>
            <a:ext cx="11401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本次</a:t>
            </a:r>
            <a:r>
              <a:rPr b="1" lang="en-US" sz="3600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課程</a:t>
            </a: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的三個</a:t>
            </a:r>
            <a:r>
              <a:rPr b="1" lang="en-US" sz="3600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目標</a:t>
            </a: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6"/>
          <p:cNvSpPr txBox="1"/>
          <p:nvPr/>
        </p:nvSpPr>
        <p:spPr>
          <a:xfrm>
            <a:off x="952500" y="2122437"/>
            <a:ext cx="4857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Class (類別)：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像是一份貸款產品的「標準樣板」，</a:t>
            </a:r>
            <a:b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定義了共用的屬性與行為。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952500" y="3409950"/>
            <a:ext cx="4857900" cy="7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Object (物件)：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具體的某一位客戶申請案，實體化了樣板。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952500" y="4331791"/>
            <a:ext cx="4857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封裝 (Encapsulation)：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敏感的徵信邏輯隱藏在背後，外部僅調用結果，有效確保資安。</a:t>
            </a:r>
            <a:endParaRPr/>
          </a:p>
        </p:txBody>
      </p:sp>
      <p:sp>
        <p:nvSpPr>
          <p:cNvPr id="130" name="Google Shape;130;p16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物件導向 (OOP)：不只是資料，而是「責任分配」</a:t>
            </a:r>
            <a:endParaRPr/>
          </a:p>
        </p:txBody>
      </p:sp>
      <p:sp>
        <p:nvSpPr>
          <p:cNvPr id="131" name="Google Shape;131;p16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170062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3457575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4" name="Google Shape;13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379416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810400" y="1994978"/>
            <a:ext cx="6076800" cy="31823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0" name="Google Shape;1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360414"/>
            <a:ext cx="5238750" cy="302106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360414"/>
            <a:ext cx="5238750" cy="3021062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962025" y="2750939"/>
            <a:ext cx="46805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巢狀判斷 (Nested If)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962025" y="3379589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有效處理多維度的風控規則。例如：同時考量客戶的身份、年收入、負債比、以及抵押品價值，進行立體化的精準判斷。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6772275" y="2750939"/>
            <a:ext cx="4680585" cy="809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異常處理 (Exception Handling)</a:t>
            </a:r>
            <a:endParaRPr/>
          </a:p>
        </p:txBody>
      </p:sp>
      <p:sp>
        <p:nvSpPr>
          <p:cNvPr id="145" name="Google Shape;145;p17"/>
          <p:cNvSpPr txBox="1"/>
          <p:nvPr/>
        </p:nvSpPr>
        <p:spPr>
          <a:xfrm>
            <a:off x="6772275" y="3751064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當輸入資料有誤或聯徵系統斷線時，系統能「優雅地崩潰」並進行錯誤捕捉，保證資料不丟失且服務不受全面影響。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 Java 判斷式比 Excel 公式強大？</a:t>
            </a:r>
            <a:endParaRPr/>
          </a:p>
        </p:txBody>
      </p:sp>
      <p:sp>
        <p:nvSpPr>
          <p:cNvPr id="147" name="Google Shape;147;p17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8"/>
          <p:cNvSpPr txBox="1"/>
          <p:nvPr/>
        </p:nvSpPr>
        <p:spPr>
          <a:xfrm>
            <a:off x="6381750" y="2133748"/>
            <a:ext cx="5500687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介面 (Interface)：跨部門協作的契約</a:t>
            </a:r>
            <a:endParaRPr/>
          </a:p>
        </p:txBody>
      </p:sp>
      <p:sp>
        <p:nvSpPr>
          <p:cNvPr id="153" name="Google Shape;153;p18"/>
          <p:cNvSpPr txBox="1"/>
          <p:nvPr/>
        </p:nvSpPr>
        <p:spPr>
          <a:xfrm>
            <a:off x="6381750" y="2762398"/>
            <a:ext cx="52389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定義：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行銷端不需要知道 Java 怎麼寫，只需要知道約定好的「介面規格」。</a:t>
            </a:r>
            <a:endParaRPr/>
          </a:p>
        </p:txBody>
      </p:sp>
      <p:sp>
        <p:nvSpPr>
          <p:cNvPr id="154" name="Google Shape;154;p18"/>
          <p:cNvSpPr txBox="1"/>
          <p:nvPr/>
        </p:nvSpPr>
        <p:spPr>
          <a:xfrm>
            <a:off x="6381750" y="4002285"/>
            <a:ext cx="5238900" cy="160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價值：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只要介面不變，後端邏輯更新（如調整利息算法）完全不會影響前端行銷頁面的運作，實現真正的</a:t>
            </a:r>
            <a:b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前後端分離。</a:t>
            </a:r>
            <a:endParaRPr/>
          </a:p>
        </p:txBody>
      </p:sp>
      <p:sp>
        <p:nvSpPr>
          <p:cNvPr id="155" name="Google Shape;155;p18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數位轉型的溝通語彙：API 與介面</a:t>
            </a:r>
            <a:endParaRPr/>
          </a:p>
        </p:txBody>
      </p:sp>
      <p:sp>
        <p:nvSpPr>
          <p:cNvPr id="156" name="Google Shape;156;p18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1500" y="1793376"/>
            <a:ext cx="5115950" cy="39968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2" name="Google Shape;16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2546151"/>
            <a:ext cx="5238750" cy="26495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2546151"/>
            <a:ext cx="5238750" cy="2649587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9"/>
          <p:cNvSpPr txBox="1"/>
          <p:nvPr/>
        </p:nvSpPr>
        <p:spPr>
          <a:xfrm>
            <a:off x="962025" y="2936676"/>
            <a:ext cx="46805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多執行緒 (Multi-threading)</a:t>
            </a:r>
            <a:endParaRPr/>
          </a:p>
        </p:txBody>
      </p:sp>
      <p:sp>
        <p:nvSpPr>
          <p:cNvPr id="165" name="Google Shape;165;p19"/>
          <p:cNvSpPr txBox="1"/>
          <p:nvPr/>
        </p:nvSpPr>
        <p:spPr>
          <a:xfrm>
            <a:off x="962025" y="3565326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強大的高併發處理能力。例如在雙 11 搶購優惠券時，能作為萬人同時存取、不卡頓的堅實後盾。</a:t>
            </a:r>
            <a:endParaRPr/>
          </a:p>
        </p:txBody>
      </p:sp>
      <p:sp>
        <p:nvSpPr>
          <p:cNvPr id="166" name="Google Shape;166;p19"/>
          <p:cNvSpPr txBox="1"/>
          <p:nvPr/>
        </p:nvSpPr>
        <p:spPr>
          <a:xfrm>
            <a:off x="6772275" y="2936676"/>
            <a:ext cx="4680585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企業級生態系</a:t>
            </a:r>
            <a:endParaRPr/>
          </a:p>
        </p:txBody>
      </p:sp>
      <p:sp>
        <p:nvSpPr>
          <p:cNvPr id="167" name="Google Shape;167;p19"/>
          <p:cNvSpPr txBox="1"/>
          <p:nvPr/>
        </p:nvSpPr>
        <p:spPr>
          <a:xfrm>
            <a:off x="6772275" y="3565326"/>
            <a:ext cx="445770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業界標準。各大銀行、支付系統、聯徵系統皆使用相同語言開發，跨系統對接與資料串流最為順暢安全。</a:t>
            </a:r>
            <a:endParaRPr/>
          </a:p>
        </p:txBody>
      </p:sp>
      <p:sp>
        <p:nvSpPr>
          <p:cNvPr id="168" name="Google Shape;168;p19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為什麼 Java 是金融業的不可替代？</a:t>
            </a:r>
            <a:endParaRPr/>
          </a:p>
        </p:txBody>
      </p:sp>
      <p:sp>
        <p:nvSpPr>
          <p:cNvPr id="169" name="Google Shape;169;p19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4" name="Google Shape;17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1965870"/>
            <a:ext cx="523875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20"/>
          <p:cNvSpPr txBox="1"/>
          <p:nvPr/>
        </p:nvSpPr>
        <p:spPr>
          <a:xfrm>
            <a:off x="952500" y="2400448"/>
            <a:ext cx="4857750" cy="14626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演練任務：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請在白紙上，利用下方提供的「Java 組件」，拼湊出「國泰 CUBE 卡：生日月份加碼自動判斷系統」。</a:t>
            </a:r>
            <a:endParaRPr/>
          </a:p>
        </p:txBody>
      </p:sp>
      <p:sp>
        <p:nvSpPr>
          <p:cNvPr id="176" name="Google Shape;176;p20"/>
          <p:cNvSpPr txBox="1"/>
          <p:nvPr/>
        </p:nvSpPr>
        <p:spPr>
          <a:xfrm>
            <a:off x="952500" y="4053631"/>
            <a:ext cx="4857750" cy="10970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核心目標：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 確保系統能自動識別客戶身份、精準判斷生日權益、並正確發放小樹點數。</a:t>
            </a:r>
            <a:endParaRPr/>
          </a:p>
        </p:txBody>
      </p:sp>
      <p:sp>
        <p:nvSpPr>
          <p:cNvPr id="177" name="Google Shape;177;p20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實戰演練：數位產品經理的「邏輯積木」</a:t>
            </a:r>
            <a:endParaRPr/>
          </a:p>
        </p:txBody>
      </p:sp>
      <p:sp>
        <p:nvSpPr>
          <p:cNvPr id="178" name="Google Shape;178;p20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79" name="Google Shape;17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48073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4101256"/>
            <a:ext cx="177849" cy="257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9625" y="1755763"/>
            <a:ext cx="4028650" cy="4028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6" name="Google Shape;18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4649092"/>
            <a:ext cx="254124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7" name="Google Shape;187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07419" y="2410717"/>
            <a:ext cx="254124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43339" y="4649092"/>
            <a:ext cx="2541240" cy="1571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079259" y="2410717"/>
            <a:ext cx="2541240" cy="157162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571500" y="1559722"/>
            <a:ext cx="11049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「寫程式就像這樣，我們定義對象、設定門檻、決定動作，這就是 Java 核心工作流。」</a:t>
            </a:r>
            <a:endParaRPr/>
          </a:p>
        </p:txBody>
      </p:sp>
      <p:sp>
        <p:nvSpPr>
          <p:cNvPr id="191" name="Google Shape;191;p21"/>
          <p:cNvSpPr/>
          <p:nvPr/>
        </p:nvSpPr>
        <p:spPr>
          <a:xfrm>
            <a:off x="571500" y="4287142"/>
            <a:ext cx="11049000" cy="57150"/>
          </a:xfrm>
          <a:prstGeom prst="rect">
            <a:avLst/>
          </a:prstGeom>
          <a:solidFill>
            <a:srgbClr val="00823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21"/>
          <p:cNvSpPr txBox="1"/>
          <p:nvPr/>
        </p:nvSpPr>
        <p:spPr>
          <a:xfrm>
            <a:off x="707993" y="4877692"/>
            <a:ext cx="226825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[組件 A]</a:t>
            </a:r>
            <a:endParaRPr/>
          </a:p>
        </p:txBody>
      </p:sp>
      <p:sp>
        <p:nvSpPr>
          <p:cNvPr id="193" name="Google Shape;193;p21"/>
          <p:cNvSpPr txBox="1"/>
          <p:nvPr/>
        </p:nvSpPr>
        <p:spPr>
          <a:xfrm>
            <a:off x="762000" y="5277742"/>
            <a:ext cx="2160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物件屬性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客戶.總資產</a:t>
            </a:r>
            <a:endParaRPr/>
          </a:p>
        </p:txBody>
      </p:sp>
      <p:sp>
        <p:nvSpPr>
          <p:cNvPr id="194" name="Google Shape;194;p21"/>
          <p:cNvSpPr txBox="1"/>
          <p:nvPr/>
        </p:nvSpPr>
        <p:spPr>
          <a:xfrm>
            <a:off x="3543913" y="2601217"/>
            <a:ext cx="226825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[組件 B]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3597919" y="3001267"/>
            <a:ext cx="2160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判斷條件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大於等於 300 萬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379833" y="4877692"/>
            <a:ext cx="226825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[組件 C]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6433839" y="5277742"/>
            <a:ext cx="2160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執行動作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標記：VIP 尊榮客戶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9215753" y="2601217"/>
            <a:ext cx="226825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[組件 D]</a:t>
            </a:r>
            <a:endParaRPr/>
          </a:p>
        </p:txBody>
      </p:sp>
      <p:sp>
        <p:nvSpPr>
          <p:cNvPr id="199" name="Google Shape;199;p21"/>
          <p:cNvSpPr txBox="1"/>
          <p:nvPr/>
        </p:nvSpPr>
        <p:spPr>
          <a:xfrm>
            <a:off x="9269759" y="3001267"/>
            <a:ext cx="216024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例外處理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500" u="none" cap="none" strike="noStrike">
                <a:solidFill>
                  <a:srgbClr val="555555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若遺失，採人工確認</a:t>
            </a:r>
            <a:endParaRPr/>
          </a:p>
        </p:txBody>
      </p:sp>
      <p:sp>
        <p:nvSpPr>
          <p:cNvPr id="200" name="Google Shape;200;p21"/>
          <p:cNvSpPr/>
          <p:nvPr/>
        </p:nvSpPr>
        <p:spPr>
          <a:xfrm>
            <a:off x="1699245" y="417284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D100"/>
          </a:solidFill>
          <a:ln cap="flat" cmpd="sng" w="57150">
            <a:solidFill>
              <a:srgbClr val="008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/>
          <p:nvPr/>
        </p:nvSpPr>
        <p:spPr>
          <a:xfrm>
            <a:off x="4535165" y="417284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D100"/>
          </a:solidFill>
          <a:ln cap="flat" cmpd="sng" w="57150">
            <a:solidFill>
              <a:srgbClr val="008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21"/>
          <p:cNvSpPr/>
          <p:nvPr/>
        </p:nvSpPr>
        <p:spPr>
          <a:xfrm>
            <a:off x="7371084" y="417284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D100"/>
          </a:solidFill>
          <a:ln cap="flat" cmpd="sng" w="57150">
            <a:solidFill>
              <a:srgbClr val="008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21"/>
          <p:cNvSpPr/>
          <p:nvPr/>
        </p:nvSpPr>
        <p:spPr>
          <a:xfrm>
            <a:off x="10207004" y="4172842"/>
            <a:ext cx="285750" cy="285750"/>
          </a:xfrm>
          <a:prstGeom prst="roundRect">
            <a:avLst>
              <a:gd fmla="val 50000" name="adj"/>
            </a:avLst>
          </a:prstGeom>
          <a:solidFill>
            <a:srgbClr val="FFD100"/>
          </a:solidFill>
          <a:ln cap="flat" cmpd="sng" w="57150">
            <a:solidFill>
              <a:srgbClr val="00823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21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講師引導範例：財富管理門檻檢查</a:t>
            </a:r>
            <a:endParaRPr/>
          </a:p>
        </p:txBody>
      </p:sp>
      <p:sp>
        <p:nvSpPr>
          <p:cNvPr id="205" name="Google Shape;205;p21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0" name="Google Shape;21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455390"/>
            <a:ext cx="11049000" cy="4908649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11" name="Google Shape;211;p22"/>
          <p:cNvGraphicFramePr/>
          <p:nvPr/>
        </p:nvGraphicFramePr>
        <p:xfrm>
          <a:off x="762000" y="164589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{C81288CA-D0F3-40D1-8297-EACEC5A1551A}</a:tableStyleId>
              </a:tblPr>
              <a:tblGrid>
                <a:gridCol w="3200400"/>
                <a:gridCol w="7467600"/>
              </a:tblGrid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分類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230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FFFFFF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可選元素 (組件內容)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08230"/>
                    </a:solidFill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1. 客戶屬性 (Data)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客戶.生日月份、客戶.當月消費金額、客戶.是否持有CUBE卡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2. 邏輯閘 (If-Else)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如果是 (If)...、否則 (Else)...、且 (And)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3. 觸發門檻 (Value)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等於當前月份、大於 5000 元、等於 True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4. 系統動作 (Action)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發放 3% 小樹點、發送祝賀簡訊、維持一般倍率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546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5. 健壯性處理 (Error)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333333"/>
                          </a:solidFill>
                          <a:latin typeface="Microsoft JhengHei"/>
                          <a:ea typeface="Microsoft JhengHei"/>
                          <a:cs typeface="Microsoft JhengHei"/>
                          <a:sym typeface="Microsoft JhengHei"/>
                        </a:rPr>
                        <a:t>若系統超時，改隔日補發、若無消費記錄，不執行動作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2" name="Google Shape;212;p22"/>
          <p:cNvSpPr/>
          <p:nvPr/>
        </p:nvSpPr>
        <p:spPr>
          <a:xfrm>
            <a:off x="762000" y="2387798"/>
            <a:ext cx="3200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3962400" y="2387798"/>
            <a:ext cx="746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762000" y="3143994"/>
            <a:ext cx="3200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3962400" y="3143994"/>
            <a:ext cx="746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/>
          <p:nvPr/>
        </p:nvSpPr>
        <p:spPr>
          <a:xfrm>
            <a:off x="762000" y="3900189"/>
            <a:ext cx="3200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22"/>
          <p:cNvSpPr/>
          <p:nvPr/>
        </p:nvSpPr>
        <p:spPr>
          <a:xfrm>
            <a:off x="3962400" y="3900189"/>
            <a:ext cx="746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2"/>
          <p:cNvSpPr/>
          <p:nvPr/>
        </p:nvSpPr>
        <p:spPr>
          <a:xfrm>
            <a:off x="762000" y="4656385"/>
            <a:ext cx="3200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22"/>
          <p:cNvSpPr/>
          <p:nvPr/>
        </p:nvSpPr>
        <p:spPr>
          <a:xfrm>
            <a:off x="3962400" y="4656385"/>
            <a:ext cx="746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2"/>
          <p:cNvSpPr/>
          <p:nvPr/>
        </p:nvSpPr>
        <p:spPr>
          <a:xfrm>
            <a:off x="762000" y="5412581"/>
            <a:ext cx="32004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2"/>
          <p:cNvSpPr/>
          <p:nvPr/>
        </p:nvSpPr>
        <p:spPr>
          <a:xfrm>
            <a:off x="3962400" y="5412581"/>
            <a:ext cx="7467600" cy="9525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2"/>
          <p:cNvSpPr txBox="1"/>
          <p:nvPr/>
        </p:nvSpPr>
        <p:spPr>
          <a:xfrm>
            <a:off x="762000" y="571500"/>
            <a:ext cx="11401425" cy="5028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任務組件：自動化邏輯清單</a:t>
            </a:r>
            <a:endParaRPr/>
          </a:p>
        </p:txBody>
      </p:sp>
      <p:sp>
        <p:nvSpPr>
          <p:cNvPr id="223" name="Google Shape;223;p22"/>
          <p:cNvSpPr/>
          <p:nvPr/>
        </p:nvSpPr>
        <p:spPr>
          <a:xfrm>
            <a:off x="571500" y="571500"/>
            <a:ext cx="76200" cy="50289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3"/>
          <p:cNvSpPr txBox="1"/>
          <p:nvPr/>
        </p:nvSpPr>
        <p:spPr>
          <a:xfrm>
            <a:off x="762000" y="762000"/>
            <a:ext cx="5300662" cy="579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從「能跑」到「好維護」</a:t>
            </a:r>
            <a:endParaRPr/>
          </a:p>
        </p:txBody>
      </p:sp>
      <p:sp>
        <p:nvSpPr>
          <p:cNvPr id="229" name="Google Shape;229;p23"/>
          <p:cNvSpPr/>
          <p:nvPr/>
        </p:nvSpPr>
        <p:spPr>
          <a:xfrm>
            <a:off x="762000" y="1455390"/>
            <a:ext cx="5048250" cy="76200"/>
          </a:xfrm>
          <a:prstGeom prst="rect">
            <a:avLst/>
          </a:prstGeom>
          <a:solidFill>
            <a:srgbClr val="FFD1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230" name="Google Shape;23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0" y="0"/>
            <a:ext cx="581025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3"/>
          <p:cNvSpPr txBox="1"/>
          <p:nvPr/>
        </p:nvSpPr>
        <p:spPr>
          <a:xfrm>
            <a:off x="762000" y="1912590"/>
            <a:ext cx="5300662" cy="43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5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深度對談</a:t>
            </a:r>
            <a:endParaRPr/>
          </a:p>
        </p:txBody>
      </p:sp>
      <p:sp>
        <p:nvSpPr>
          <p:cNvPr id="232" name="Google Shape;232;p23"/>
          <p:cNvSpPr txBox="1"/>
          <p:nvPr/>
        </p:nvSpPr>
        <p:spPr>
          <a:xfrm>
            <a:off x="762000" y="2541240"/>
            <a:ext cx="5048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討論點：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如果你想要增加一個「快閃活動加碼」，你的邏輯組件好抽換嗎？</a:t>
            </a:r>
            <a:endParaRPr/>
          </a:p>
        </p:txBody>
      </p:sp>
      <p:sp>
        <p:nvSpPr>
          <p:cNvPr id="233" name="Google Shape;233;p23"/>
          <p:cNvSpPr txBox="1"/>
          <p:nvPr/>
        </p:nvSpPr>
        <p:spPr>
          <a:xfrm>
            <a:off x="762000" y="3895152"/>
            <a:ext cx="5048400" cy="11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Java 的優勢：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模組化設計讓國泰的產品能快速迭代，而不必重寫整個系統。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4F4F4"/>
        </a:solid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8" name="Google Shape;23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3887985"/>
            <a:ext cx="2895600" cy="647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9" name="Google Shape;23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065913"/>
            <a:ext cx="11049000" cy="4726186"/>
          </a:xfrm>
          <a:prstGeom prst="rect">
            <a:avLst/>
          </a:prstGeom>
          <a:noFill/>
          <a:ln>
            <a:noFill/>
          </a:ln>
        </p:spPr>
      </p:pic>
      <p:sp>
        <p:nvSpPr>
          <p:cNvPr id="240" name="Google Shape;240;p24"/>
          <p:cNvSpPr txBox="1"/>
          <p:nvPr/>
        </p:nvSpPr>
        <p:spPr>
          <a:xfrm>
            <a:off x="1095375" y="2353563"/>
            <a:ext cx="10001400" cy="10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750" u="none" cap="none" strike="noStrike">
                <a:solidFill>
                  <a:srgbClr val="008230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提問與交流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1333500" y="3968050"/>
            <a:ext cx="9525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333333"/>
                </a:solidFill>
                <a:latin typeface="Microsoft JhengHei"/>
                <a:ea typeface="Microsoft JhengHei"/>
                <a:cs typeface="Microsoft JhengHei"/>
                <a:sym typeface="Microsoft JhengHei"/>
              </a:rPr>
              <a:t>感謝您的參與！讓我們共同用科技賦能金融服務。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
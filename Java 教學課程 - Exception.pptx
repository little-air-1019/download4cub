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y="5143500" cx="9144000"/>
  <p:notesSz cx="6858000" cy="9144000"/>
  <p:embeddedFontLst>
    <p:embeddedFont>
      <p:font typeface="Poppins"/>
      <p:regular r:id="rId36"/>
      <p:bold r:id="rId37"/>
      <p:italic r:id="rId38"/>
      <p:boldItalic r:id="rId39"/>
    </p:embeddedFont>
    <p:embeddedFont>
      <p:font typeface="Noto Sans TC"/>
      <p:regular r:id="rId40"/>
      <p:bold r:id="rId41"/>
    </p:embeddedFont>
    <p:embeddedFont>
      <p:font typeface="Roboto Mono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C2C8CB4-40F3-44DD-961E-31370AD03091}">
  <a:tblStyle styleId="{BC2C8CB4-40F3-44DD-961E-31370AD0309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otoSansTC-regular.fntdata"/><Relationship Id="rId20" Type="http://schemas.openxmlformats.org/officeDocument/2006/relationships/slide" Target="slides/slide13.xml"/><Relationship Id="rId42" Type="http://schemas.openxmlformats.org/officeDocument/2006/relationships/font" Target="fonts/RobotoMono-regular.fntdata"/><Relationship Id="rId41" Type="http://schemas.openxmlformats.org/officeDocument/2006/relationships/font" Target="fonts/NotoSansTC-bold.fntdata"/><Relationship Id="rId22" Type="http://schemas.openxmlformats.org/officeDocument/2006/relationships/slide" Target="slides/slide15.xml"/><Relationship Id="rId44" Type="http://schemas.openxmlformats.org/officeDocument/2006/relationships/font" Target="fonts/RobotoMono-italic.fntdata"/><Relationship Id="rId21" Type="http://schemas.openxmlformats.org/officeDocument/2006/relationships/slide" Target="slides/slide14.xml"/><Relationship Id="rId43" Type="http://schemas.openxmlformats.org/officeDocument/2006/relationships/font" Target="fonts/RobotoMono-bold.fntdata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45" Type="http://schemas.openxmlformats.org/officeDocument/2006/relationships/font" Target="fonts/RobotoMon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font" Target="fonts/Poppins-bold.fntdata"/><Relationship Id="rId14" Type="http://schemas.openxmlformats.org/officeDocument/2006/relationships/slide" Target="slides/slide7.xml"/><Relationship Id="rId36" Type="http://schemas.openxmlformats.org/officeDocument/2006/relationships/font" Target="fonts/Poppins-regular.fntdata"/><Relationship Id="rId17" Type="http://schemas.openxmlformats.org/officeDocument/2006/relationships/slide" Target="slides/slide10.xml"/><Relationship Id="rId39" Type="http://schemas.openxmlformats.org/officeDocument/2006/relationships/font" Target="fonts/Poppins-boldItalic.fntdata"/><Relationship Id="rId16" Type="http://schemas.openxmlformats.org/officeDocument/2006/relationships/slide" Target="slides/slide9.xml"/><Relationship Id="rId38" Type="http://schemas.openxmlformats.org/officeDocument/2006/relationships/font" Target="fonts/Poppins-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6cfd9f014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c6cfd9f014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6cfd9f014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c6cfd9f014_2_10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c6cfd9f01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c6cfd9f014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6cfd9f01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c6cfd9f014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6cfd9f014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c6cfd9f014_0_1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07ba3da7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c07ba3da7d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c07ba3da7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c07ba3da7d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c6cfd9f014_2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c6cfd9f014_2_2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6cfd9f014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c6cfd9f014_0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c07ba3da7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c07ba3da7d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c6cfd9f014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c6cfd9f014_0_1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c6cfd9f014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c6cfd9f014_0_1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c07ba3da7d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c07ba3da7d_1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c07ba3da7d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c07ba3da7d_1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c6cfd9f014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c6cfd9f014_0_1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c07ba3da7d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c07ba3da7d_1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c07ba3da7d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c07ba3da7d_1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c07ba3da7d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c07ba3da7d_1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c07ba3da7d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c07ba3da7d_1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c07ba3da7d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c07ba3da7d_1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c07ba3da7d_1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c07ba3da7d_1_1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c6cfd9f014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c6cfd9f014_0_1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c07ba3da7d_1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c07ba3da7d_1_1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c07ba3da7d_1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c07ba3da7d_1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c6cfd9f014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c6cfd9f014_0_4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c6cfd9f014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c6cfd9f014_0_4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c49ea3db5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c49ea3db51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c6cfd9f014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c6cfd9f014_0_4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50" y="1597819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00" y="2914650"/>
            <a:ext cx="48006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35" y="3305175"/>
            <a:ext cx="58293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15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0" y="204788"/>
            <a:ext cx="225623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0" y="1076325"/>
            <a:ext cx="225623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764" y="-188714"/>
            <a:ext cx="3394472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253" y="1628775"/>
            <a:ext cx="4388644" cy="154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03" y="142875"/>
            <a:ext cx="4388644" cy="4514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5"/>
          <p:cNvSpPr txBox="1"/>
          <p:nvPr/>
        </p:nvSpPr>
        <p:spPr>
          <a:xfrm>
            <a:off x="571500" y="1940538"/>
            <a:ext cx="84012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4100">
                <a:solidFill>
                  <a:srgbClr val="006241"/>
                </a:solidFill>
                <a:latin typeface="Poppins"/>
                <a:ea typeface="Poppins"/>
                <a:cs typeface="Poppins"/>
                <a:sym typeface="Poppins"/>
              </a:rPr>
              <a:t>Exception</a:t>
            </a:r>
            <a:endParaRPr sz="1100"/>
          </a:p>
        </p:txBody>
      </p:sp>
      <p:sp>
        <p:nvSpPr>
          <p:cNvPr id="131" name="Google Shape;131;p25"/>
          <p:cNvSpPr txBox="1"/>
          <p:nvPr/>
        </p:nvSpPr>
        <p:spPr>
          <a:xfrm>
            <a:off x="571500" y="2937822"/>
            <a:ext cx="8001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666666"/>
                </a:solidFill>
                <a:latin typeface="Noto Sans TC"/>
                <a:ea typeface="Noto Sans TC"/>
                <a:cs typeface="Noto Sans TC"/>
                <a:sym typeface="Noto Sans TC"/>
              </a:rPr>
              <a:t>Java Exception Handling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/>
        </p:nvSpPr>
        <p:spPr>
          <a:xfrm>
            <a:off x="571500" y="1575300"/>
            <a:ext cx="8213700" cy="3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在了解例外之前，我們要先學會區分兩個容易混淆的概念：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例外（Exception）</a:t>
            </a:r>
            <a:endParaRPr b="1"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TC"/>
              <a:buChar char="●"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例外是指程式在執行過程中，遇到了</a:t>
            </a:r>
            <a:r>
              <a:rPr lang="zh-TW" sz="1200">
                <a:solidFill>
                  <a:srgbClr val="FF0000"/>
                </a:solidFill>
                <a:latin typeface="Noto Sans TC"/>
                <a:ea typeface="Noto Sans TC"/>
                <a:cs typeface="Noto Sans TC"/>
                <a:sym typeface="Noto Sans TC"/>
              </a:rPr>
              <a:t>不符合預期邏輯</a:t>
            </a: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的狀況。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TC"/>
              <a:buChar char="●"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關鍵在於：這是程式設計師可以預見、應該處理的問題。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TC"/>
              <a:buChar char="●"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例外通常只影響程式中的特定部分，不會讓整個系統崩潰，而且大部分情況下是可以預防或復原的。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錯誤（Error）</a:t>
            </a:r>
            <a:endParaRPr b="1"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TC"/>
              <a:buChar char="●"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錯誤代表的是</a:t>
            </a:r>
            <a:r>
              <a:rPr lang="zh-TW" sz="1200">
                <a:solidFill>
                  <a:srgbClr val="FF0000"/>
                </a:solidFill>
                <a:latin typeface="Noto Sans TC"/>
                <a:ea typeface="Noto Sans TC"/>
                <a:cs typeface="Noto Sans TC"/>
                <a:sym typeface="Noto Sans TC"/>
              </a:rPr>
              <a:t>系統層級的嚴重問題</a:t>
            </a: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，程式設計師在程式碼中無法處理，也不應該嘗試處理。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TC"/>
              <a:buChar char="●"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常見的例子包括 OutOfMemoryError（記憶體不足）、StackOverflowError（堆疊溢位）。遇到這類問題，解決方式通常不在程式碼層面，而是要請維運人員來擴充硬體資源或排查系統配置。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37" name="Google Shape;137;p26"/>
          <p:cNvSpPr txBox="1"/>
          <p:nvPr/>
        </p:nvSpPr>
        <p:spPr>
          <a:xfrm>
            <a:off x="750094" y="689483"/>
            <a:ext cx="821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006241"/>
                </a:solidFill>
                <a:latin typeface="Noto Sans TC"/>
                <a:ea typeface="Noto Sans TC"/>
                <a:cs typeface="Noto Sans TC"/>
                <a:sym typeface="Noto Sans TC"/>
              </a:rPr>
              <a:t>什麼是例外 (Exception)</a:t>
            </a:r>
            <a:r>
              <a:rPr b="1" lang="zh-TW" sz="2500">
                <a:solidFill>
                  <a:srgbClr val="006241"/>
                </a:solidFill>
                <a:latin typeface="Noto Sans TC"/>
                <a:ea typeface="Noto Sans TC"/>
                <a:cs typeface="Noto Sans TC"/>
                <a:sym typeface="Noto Sans TC"/>
              </a:rPr>
              <a:t>？</a:t>
            </a:r>
            <a:endParaRPr sz="1100"/>
          </a:p>
        </p:txBody>
      </p:sp>
      <p:sp>
        <p:nvSpPr>
          <p:cNvPr id="138" name="Google Shape;138;p26"/>
          <p:cNvSpPr/>
          <p:nvPr/>
        </p:nvSpPr>
        <p:spPr>
          <a:xfrm>
            <a:off x="571500" y="689483"/>
            <a:ext cx="85725" cy="457200"/>
          </a:xfrm>
          <a:prstGeom prst="rect">
            <a:avLst/>
          </a:prstGeom>
          <a:solidFill>
            <a:srgbClr val="00A55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/>
        </p:nvSpPr>
        <p:spPr>
          <a:xfrm>
            <a:off x="750094" y="689483"/>
            <a:ext cx="821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006241"/>
                </a:solidFill>
                <a:latin typeface="Noto Sans TC"/>
                <a:ea typeface="Noto Sans TC"/>
                <a:cs typeface="Noto Sans TC"/>
                <a:sym typeface="Noto Sans TC"/>
              </a:rPr>
              <a:t>例外的架構圖</a:t>
            </a:r>
            <a:endParaRPr sz="1100"/>
          </a:p>
        </p:txBody>
      </p:sp>
      <p:sp>
        <p:nvSpPr>
          <p:cNvPr id="144" name="Google Shape;144;p27"/>
          <p:cNvSpPr/>
          <p:nvPr/>
        </p:nvSpPr>
        <p:spPr>
          <a:xfrm>
            <a:off x="571500" y="689483"/>
            <a:ext cx="85800" cy="457200"/>
          </a:xfrm>
          <a:prstGeom prst="rect">
            <a:avLst/>
          </a:prstGeom>
          <a:solidFill>
            <a:srgbClr val="00A55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4800" y="1146683"/>
            <a:ext cx="3034394" cy="37643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/>
          <p:nvPr/>
        </p:nvSpPr>
        <p:spPr>
          <a:xfrm>
            <a:off x="4214813" y="1687711"/>
            <a:ext cx="714300" cy="35700"/>
          </a:xfrm>
          <a:prstGeom prst="rect">
            <a:avLst/>
          </a:prstGeom>
          <a:solidFill>
            <a:srgbClr val="00A55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8"/>
          <p:cNvSpPr txBox="1"/>
          <p:nvPr/>
        </p:nvSpPr>
        <p:spPr>
          <a:xfrm>
            <a:off x="1312051" y="2146375"/>
            <a:ext cx="6519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3600">
                <a:solidFill>
                  <a:srgbClr val="006241"/>
                </a:solidFill>
                <a:latin typeface="Noto Sans TC"/>
                <a:ea typeface="Noto Sans TC"/>
                <a:cs typeface="Noto Sans TC"/>
                <a:sym typeface="Noto Sans TC"/>
              </a:rPr>
              <a:t>例外的種類：</a:t>
            </a:r>
            <a:br>
              <a:rPr b="1" lang="zh-TW" sz="3600">
                <a:solidFill>
                  <a:srgbClr val="006241"/>
                </a:solidFill>
                <a:latin typeface="Noto Sans TC"/>
                <a:ea typeface="Noto Sans TC"/>
                <a:cs typeface="Noto Sans TC"/>
                <a:sym typeface="Noto Sans TC"/>
              </a:rPr>
            </a:br>
            <a:r>
              <a:rPr b="1" lang="zh-TW" sz="3600">
                <a:solidFill>
                  <a:srgbClr val="006241"/>
                </a:solidFill>
                <a:latin typeface="Noto Sans TC"/>
                <a:ea typeface="Noto Sans TC"/>
                <a:cs typeface="Noto Sans TC"/>
                <a:sym typeface="Noto Sans TC"/>
              </a:rPr>
              <a:t>Checked vs. Unchecked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/>
        </p:nvSpPr>
        <p:spPr>
          <a:xfrm>
            <a:off x="571500" y="1575300"/>
            <a:ext cx="8213700" cy="13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rgbClr val="333333"/>
                </a:solidFill>
                <a:highlight>
                  <a:srgbClr val="FFF2CC"/>
                </a:highlight>
                <a:latin typeface="Noto Sans TC"/>
                <a:ea typeface="Noto Sans TC"/>
                <a:cs typeface="Noto Sans TC"/>
                <a:sym typeface="Noto Sans TC"/>
              </a:rPr>
              <a:t>程式碼本身沒有寫錯，但「外部環境」不可控</a:t>
            </a:r>
            <a:endParaRPr b="1" sz="1200">
              <a:solidFill>
                <a:srgbClr val="333333"/>
              </a:solidFill>
              <a:highlight>
                <a:srgbClr val="FFF2CC"/>
              </a:highlight>
              <a:latin typeface="Noto Sans TC"/>
              <a:ea typeface="Noto Sans TC"/>
              <a:cs typeface="Noto Sans TC"/>
              <a:sym typeface="Noto Sans TC"/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TC"/>
              <a:buChar char="●"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繼承自 Exception，但不是 RuntimeException 的子類別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TC"/>
              <a:buChar char="●"/>
            </a:pPr>
            <a:r>
              <a:rPr lang="zh-TW" sz="1200">
                <a:solidFill>
                  <a:srgbClr val="FF0000"/>
                </a:solidFill>
                <a:latin typeface="Noto Sans TC"/>
                <a:ea typeface="Noto Sans TC"/>
                <a:cs typeface="Noto Sans TC"/>
                <a:sym typeface="Noto Sans TC"/>
              </a:rPr>
              <a:t>必須在編譯時期處理</a:t>
            </a: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，否則程式無法通過編譯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TC"/>
              <a:buChar char="●"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編譯器會強制要求你用 try-catch 接住，或用 throws 往上拋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TC"/>
              <a:buChar char="●"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常見範例：IOException、SQLException、FileNotFoundException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57" name="Google Shape;157;p29"/>
          <p:cNvSpPr txBox="1"/>
          <p:nvPr/>
        </p:nvSpPr>
        <p:spPr>
          <a:xfrm>
            <a:off x="750094" y="689483"/>
            <a:ext cx="821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006241"/>
                </a:solidFill>
                <a:latin typeface="Noto Sans TC"/>
                <a:ea typeface="Noto Sans TC"/>
                <a:cs typeface="Noto Sans TC"/>
                <a:sym typeface="Noto Sans TC"/>
              </a:rPr>
              <a:t>Checked Exception（受檢例外）</a:t>
            </a:r>
            <a:endParaRPr sz="1100"/>
          </a:p>
        </p:txBody>
      </p:sp>
      <p:sp>
        <p:nvSpPr>
          <p:cNvPr id="158" name="Google Shape;158;p29"/>
          <p:cNvSpPr/>
          <p:nvPr/>
        </p:nvSpPr>
        <p:spPr>
          <a:xfrm>
            <a:off x="571500" y="689483"/>
            <a:ext cx="85800" cy="457200"/>
          </a:xfrm>
          <a:prstGeom prst="rect">
            <a:avLst/>
          </a:prstGeom>
          <a:solidFill>
            <a:srgbClr val="00A55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9"/>
          <p:cNvSpPr txBox="1"/>
          <p:nvPr/>
        </p:nvSpPr>
        <p:spPr>
          <a:xfrm>
            <a:off x="1367700" y="3074500"/>
            <a:ext cx="6408600" cy="1822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zh-TW" sz="12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這段程式碼無法通過編譯，因為 FileNotFoundException 是 Checked Exception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java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io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FileReader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CheckedDemo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static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main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TW" sz="120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[]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args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i="1" lang="zh-TW" sz="12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❌ 編譯錯誤！必須處理 FileNotFoundException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FileReader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reader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FileReader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TW" sz="12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"test.txt"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/>
          <p:nvPr/>
        </p:nvSpPr>
        <p:spPr>
          <a:xfrm>
            <a:off x="571500" y="1575300"/>
            <a:ext cx="8213700" cy="13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rgbClr val="333333"/>
                </a:solidFill>
                <a:highlight>
                  <a:srgbClr val="FFF2CC"/>
                </a:highlight>
                <a:latin typeface="Noto Sans TC"/>
                <a:ea typeface="Noto Sans TC"/>
                <a:cs typeface="Noto Sans TC"/>
                <a:sym typeface="Noto Sans TC"/>
              </a:rPr>
              <a:t>程式邏輯有瑕疵</a:t>
            </a:r>
            <a:endParaRPr b="1" sz="1200">
              <a:solidFill>
                <a:srgbClr val="333333"/>
              </a:solidFill>
              <a:highlight>
                <a:srgbClr val="FFF2CC"/>
              </a:highlight>
              <a:latin typeface="Noto Sans TC"/>
              <a:ea typeface="Noto Sans TC"/>
              <a:cs typeface="Noto Sans TC"/>
              <a:sym typeface="Noto Sans TC"/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TC"/>
              <a:buChar char="●"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是 RuntimeException 的子類別（或更嚴重的 Error）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TC"/>
              <a:buChar char="●"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不需要強制處理，即使不寫 try-catch，程式也能通過編譯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TC"/>
              <a:buChar char="●"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通常代表程式邏輯上的 bug，應該</a:t>
            </a:r>
            <a:r>
              <a:rPr lang="zh-TW" sz="1200">
                <a:solidFill>
                  <a:srgbClr val="FF0000"/>
                </a:solidFill>
                <a:latin typeface="Noto Sans TC"/>
                <a:ea typeface="Noto Sans TC"/>
                <a:cs typeface="Noto Sans TC"/>
                <a:sym typeface="Noto Sans TC"/>
              </a:rPr>
              <a:t>透過修正邏輯來避免</a:t>
            </a: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，而不是靠 try-catch 補救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TC"/>
              <a:buChar char="●"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常見範例：NullPointerException、ArrayIndexOutOfBoundsException、ArithmeticException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65" name="Google Shape;165;p30"/>
          <p:cNvSpPr txBox="1"/>
          <p:nvPr/>
        </p:nvSpPr>
        <p:spPr>
          <a:xfrm>
            <a:off x="750094" y="689483"/>
            <a:ext cx="821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006241"/>
                </a:solidFill>
                <a:latin typeface="Noto Sans TC"/>
                <a:ea typeface="Noto Sans TC"/>
                <a:cs typeface="Noto Sans TC"/>
                <a:sym typeface="Noto Sans TC"/>
              </a:rPr>
              <a:t>Unchecked Exception（非受檢例外）</a:t>
            </a:r>
            <a:endParaRPr sz="1100"/>
          </a:p>
        </p:txBody>
      </p:sp>
      <p:sp>
        <p:nvSpPr>
          <p:cNvPr id="166" name="Google Shape;166;p30"/>
          <p:cNvSpPr/>
          <p:nvPr/>
        </p:nvSpPr>
        <p:spPr>
          <a:xfrm>
            <a:off x="571500" y="689483"/>
            <a:ext cx="85800" cy="457200"/>
          </a:xfrm>
          <a:prstGeom prst="rect">
            <a:avLst/>
          </a:prstGeom>
          <a:solidFill>
            <a:srgbClr val="00A55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0"/>
          <p:cNvSpPr txBox="1"/>
          <p:nvPr/>
        </p:nvSpPr>
        <p:spPr>
          <a:xfrm>
            <a:off x="1367700" y="3074500"/>
            <a:ext cx="6408600" cy="1455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UncheckedDemo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static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main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TW" sz="120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[]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args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i="1" lang="zh-TW" sz="12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可以編譯通過，但執行時會拋出 ArithmeticException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zh-TW" sz="120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result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System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out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println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result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/>
          <p:nvPr/>
        </p:nvSpPr>
        <p:spPr>
          <a:xfrm>
            <a:off x="750094" y="689483"/>
            <a:ext cx="821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006241"/>
                </a:solidFill>
                <a:latin typeface="Noto Sans TC"/>
                <a:ea typeface="Noto Sans TC"/>
                <a:cs typeface="Noto Sans TC"/>
                <a:sym typeface="Noto Sans TC"/>
              </a:rPr>
              <a:t>編譯前後檢查的意義</a:t>
            </a:r>
            <a:endParaRPr sz="1100"/>
          </a:p>
        </p:txBody>
      </p:sp>
      <p:sp>
        <p:nvSpPr>
          <p:cNvPr id="173" name="Google Shape;173;p31"/>
          <p:cNvSpPr/>
          <p:nvPr/>
        </p:nvSpPr>
        <p:spPr>
          <a:xfrm>
            <a:off x="571500" y="689483"/>
            <a:ext cx="85800" cy="457200"/>
          </a:xfrm>
          <a:prstGeom prst="rect">
            <a:avLst/>
          </a:prstGeom>
          <a:solidFill>
            <a:srgbClr val="00A55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4" name="Google Shape;174;p31"/>
          <p:cNvGraphicFramePr/>
          <p:nvPr/>
        </p:nvGraphicFramePr>
        <p:xfrm>
          <a:off x="571500" y="179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{BC2C8CB4-40F3-44DD-961E-31370AD03091}</a:tableStyleId>
              </a:tblPr>
              <a:tblGrid>
                <a:gridCol w="2371550"/>
                <a:gridCol w="1504550"/>
                <a:gridCol w="4337600"/>
              </a:tblGrid>
              <a:tr h="55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lt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檢查時機</a:t>
                      </a:r>
                      <a:endParaRPr>
                        <a:solidFill>
                          <a:schemeClr val="lt1"/>
                        </a:solidFill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91425" marB="91425" marR="91425" marL="91425" anchor="ctr">
                    <a:solidFill>
                      <a:srgbClr val="00A55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lt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類型</a:t>
                      </a:r>
                      <a:endParaRPr>
                        <a:solidFill>
                          <a:schemeClr val="lt1"/>
                        </a:solidFill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91425" marB="91425" marR="91425" marL="91425" anchor="ctr">
                    <a:solidFill>
                      <a:srgbClr val="00A55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lt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意義</a:t>
                      </a:r>
                      <a:endParaRPr>
                        <a:solidFill>
                          <a:schemeClr val="lt1"/>
                        </a:solidFill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91425" marB="91425" marR="91425" marL="91425" anchor="ctr">
                    <a:solidFill>
                      <a:srgbClr val="00A551"/>
                    </a:solidFill>
                  </a:tcPr>
                </a:tc>
              </a:tr>
              <a:tr h="730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編譯時（Static Check）</a:t>
                      </a:r>
                      <a:endParaRPr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Checked</a:t>
                      </a:r>
                      <a:endParaRPr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solidFill>
                            <a:schemeClr val="dk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合約精神：</a:t>
                      </a:r>
                      <a:r>
                        <a:rPr lang="zh-TW">
                          <a:solidFill>
                            <a:schemeClr val="dk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 強制規定 API 的使用者必須處理潛在的風險，確保在開發階段就考慮到失敗路徑。</a:t>
                      </a:r>
                      <a:endParaRPr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91425" marB="91425" marR="91425" marL="91425" anchor="ctr"/>
                </a:tc>
              </a:tr>
              <a:tr h="730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執行時（Dynamic Check）</a:t>
                      </a:r>
                      <a:endParaRPr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Unchecked</a:t>
                      </a:r>
                      <a:endParaRPr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防禦邏輯：</a:t>
                      </a:r>
                      <a:r>
                        <a:rPr lang="zh-TW"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 反映程式的 Bug。讓它直接報錯停下來</a:t>
                      </a:r>
                      <a:endParaRPr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 txBox="1"/>
          <p:nvPr/>
        </p:nvSpPr>
        <p:spPr>
          <a:xfrm>
            <a:off x="371475" y="2079150"/>
            <a:ext cx="855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3000">
                <a:solidFill>
                  <a:srgbClr val="006241"/>
                </a:solidFill>
                <a:latin typeface="Noto Sans TC"/>
                <a:ea typeface="Noto Sans TC"/>
                <a:cs typeface="Noto Sans TC"/>
                <a:sym typeface="Noto Sans TC"/>
              </a:rPr>
              <a:t>補充：Lambda / forEach 中可以拋出例外嗎？</a:t>
            </a:r>
            <a:endParaRPr sz="900"/>
          </a:p>
        </p:txBody>
      </p:sp>
      <p:sp>
        <p:nvSpPr>
          <p:cNvPr id="180" name="Google Shape;180;p32"/>
          <p:cNvSpPr txBox="1"/>
          <p:nvPr/>
        </p:nvSpPr>
        <p:spPr>
          <a:xfrm>
            <a:off x="1357338" y="3408263"/>
            <a:ext cx="6429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sz="15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答案取決於例外的類型</a:t>
            </a:r>
            <a:endParaRPr sz="15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81" name="Google Shape;181;p32"/>
          <p:cNvSpPr/>
          <p:nvPr/>
        </p:nvSpPr>
        <p:spPr>
          <a:xfrm>
            <a:off x="4214813" y="1687711"/>
            <a:ext cx="714300" cy="35700"/>
          </a:xfrm>
          <a:prstGeom prst="rect">
            <a:avLst/>
          </a:prstGeom>
          <a:solidFill>
            <a:srgbClr val="00A55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3"/>
          <p:cNvSpPr txBox="1"/>
          <p:nvPr/>
        </p:nvSpPr>
        <p:spPr>
          <a:xfrm>
            <a:off x="750094" y="689483"/>
            <a:ext cx="821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006241"/>
                </a:solidFill>
                <a:latin typeface="Noto Sans TC"/>
                <a:ea typeface="Noto Sans TC"/>
                <a:cs typeface="Noto Sans TC"/>
                <a:sym typeface="Noto Sans TC"/>
              </a:rPr>
              <a:t>Unchecked Exception → 可以直接拋出，沒有限制</a:t>
            </a:r>
            <a:endParaRPr sz="1100"/>
          </a:p>
        </p:txBody>
      </p:sp>
      <p:sp>
        <p:nvSpPr>
          <p:cNvPr id="187" name="Google Shape;187;p33"/>
          <p:cNvSpPr/>
          <p:nvPr/>
        </p:nvSpPr>
        <p:spPr>
          <a:xfrm>
            <a:off x="571500" y="689483"/>
            <a:ext cx="85800" cy="457200"/>
          </a:xfrm>
          <a:prstGeom prst="rect">
            <a:avLst/>
          </a:prstGeom>
          <a:solidFill>
            <a:srgbClr val="00A55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3"/>
          <p:cNvSpPr txBox="1"/>
          <p:nvPr/>
        </p:nvSpPr>
        <p:spPr>
          <a:xfrm>
            <a:off x="1173750" y="1337175"/>
            <a:ext cx="6796500" cy="29355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java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util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List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LambdaUncheckedDemo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static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main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TW" sz="120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[]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args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zh-TW" sz="120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var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names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List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of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TW" sz="12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"Alice"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zh-TW" sz="12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"Bob"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zh-TW" sz="12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""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i="1" lang="zh-TW" sz="12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forEach 中拋出 Unchecked Exception：完全合法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names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forEach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-&gt;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isEmpty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())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       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throw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IllegalArgumentException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TW" sz="12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"名字不可為空字串"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    }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System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out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println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toUpperCase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());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});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/>
          <p:cNvSpPr txBox="1"/>
          <p:nvPr/>
        </p:nvSpPr>
        <p:spPr>
          <a:xfrm>
            <a:off x="750094" y="689483"/>
            <a:ext cx="821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006241"/>
                </a:solidFill>
                <a:latin typeface="Noto Sans TC"/>
                <a:ea typeface="Noto Sans TC"/>
                <a:cs typeface="Noto Sans TC"/>
                <a:sym typeface="Noto Sans TC"/>
              </a:rPr>
              <a:t>Checked Exception → 無法直接拋出，編譯會失敗！</a:t>
            </a:r>
            <a:endParaRPr sz="1100"/>
          </a:p>
        </p:txBody>
      </p:sp>
      <p:sp>
        <p:nvSpPr>
          <p:cNvPr id="194" name="Google Shape;194;p34"/>
          <p:cNvSpPr/>
          <p:nvPr/>
        </p:nvSpPr>
        <p:spPr>
          <a:xfrm>
            <a:off x="571500" y="689483"/>
            <a:ext cx="85800" cy="457200"/>
          </a:xfrm>
          <a:prstGeom prst="rect">
            <a:avLst/>
          </a:prstGeom>
          <a:solidFill>
            <a:srgbClr val="00A55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4"/>
          <p:cNvSpPr txBox="1"/>
          <p:nvPr/>
        </p:nvSpPr>
        <p:spPr>
          <a:xfrm>
            <a:off x="1173750" y="1337175"/>
            <a:ext cx="6796500" cy="25818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java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util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List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java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io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IOException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LambdaCheckedDemo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static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main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TW" sz="120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[]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args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zh-TW" sz="120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var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fileNames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List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of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TW" sz="12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"a.txt"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zh-TW" sz="12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"b.txt"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i="1" lang="zh-TW" sz="12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❌ 編譯錯誤！Consumer.accept() 沒有宣告 throws IOException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fileNames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forEach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-&gt;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throw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IOException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TW" sz="12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"找不到檔案："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});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96" name="Google Shape;196;p34"/>
          <p:cNvSpPr txBox="1"/>
          <p:nvPr/>
        </p:nvSpPr>
        <p:spPr>
          <a:xfrm>
            <a:off x="1173750" y="4181775"/>
            <a:ext cx="6796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原因在於 Java 標準函式介面（如 Consumer&lt;T&gt;、Function&lt;T,R&gt;）的抽象方法簽章沒有宣告 throws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5"/>
          <p:cNvSpPr txBox="1"/>
          <p:nvPr/>
        </p:nvSpPr>
        <p:spPr>
          <a:xfrm>
            <a:off x="750094" y="689483"/>
            <a:ext cx="821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006241"/>
                </a:solidFill>
                <a:latin typeface="Noto Sans TC"/>
                <a:ea typeface="Noto Sans TC"/>
                <a:cs typeface="Noto Sans TC"/>
                <a:sym typeface="Noto Sans TC"/>
              </a:rPr>
              <a:t>還是想在 Lambda 中處理 Checked Exception 怎麼辦？</a:t>
            </a:r>
            <a:endParaRPr sz="1100"/>
          </a:p>
        </p:txBody>
      </p:sp>
      <p:sp>
        <p:nvSpPr>
          <p:cNvPr id="202" name="Google Shape;202;p35"/>
          <p:cNvSpPr/>
          <p:nvPr/>
        </p:nvSpPr>
        <p:spPr>
          <a:xfrm>
            <a:off x="571500" y="689483"/>
            <a:ext cx="85800" cy="457200"/>
          </a:xfrm>
          <a:prstGeom prst="rect">
            <a:avLst/>
          </a:prstGeom>
          <a:solidFill>
            <a:srgbClr val="00A55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5"/>
          <p:cNvSpPr txBox="1"/>
          <p:nvPr/>
        </p:nvSpPr>
        <p:spPr>
          <a:xfrm>
            <a:off x="571500" y="1575300"/>
            <a:ext cx="8213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TC"/>
              <a:buChar char="●"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做法一：在 Lambda 內部用 try-catch 包住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3048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TC"/>
              <a:buChar char="●"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做法二：將 Checked Exception 包裝成 Unchecked Exception 後再拋出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小結：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3048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TC"/>
              <a:buChar char="●"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Lambda / forEach 中只能「直接拋出」Unchecked Exception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3048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TC"/>
              <a:buChar char="●"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若要處理 Checked Exception，必須在 Lambda 內部 try-catch 或包裝成 RuntimeException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6"/>
          <p:cNvSpPr txBox="1"/>
          <p:nvPr/>
        </p:nvSpPr>
        <p:spPr>
          <a:xfrm>
            <a:off x="371475" y="2079139"/>
            <a:ext cx="8401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3200">
                <a:solidFill>
                  <a:srgbClr val="006241"/>
                </a:solidFill>
                <a:latin typeface="Noto Sans TC"/>
                <a:ea typeface="Noto Sans TC"/>
                <a:cs typeface="Noto Sans TC"/>
                <a:sym typeface="Noto Sans TC"/>
              </a:rPr>
              <a:t>例外處理語法</a:t>
            </a:r>
            <a:endParaRPr sz="1100"/>
          </a:p>
        </p:txBody>
      </p:sp>
      <p:sp>
        <p:nvSpPr>
          <p:cNvPr id="209" name="Google Shape;209;p36"/>
          <p:cNvSpPr txBox="1"/>
          <p:nvPr/>
        </p:nvSpPr>
        <p:spPr>
          <a:xfrm>
            <a:off x="1357338" y="3408263"/>
            <a:ext cx="6429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sz="15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try-catch-finally</a:t>
            </a:r>
            <a:endParaRPr sz="15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7"/>
          <p:cNvSpPr txBox="1"/>
          <p:nvPr/>
        </p:nvSpPr>
        <p:spPr>
          <a:xfrm>
            <a:off x="571500" y="1575300"/>
            <a:ext cx="82137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TC"/>
              <a:buChar char="●"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catch 的順序必須從子類到父類——如果把父類放在前面，子類的 catch 永遠不會被執行到，編譯器會報錯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TC"/>
              <a:buChar char="●"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finally 區塊一定會執行——不管 try 中是否發生例外、catch 中是否又拋出例外，finally 都會在方法回傳之前執行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TC"/>
              <a:buChar char="●"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finally 常用於釋放資源——例如關閉資料庫連線、檔案串流等（後面會介紹更優雅的 try-with-resources）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15" name="Google Shape;215;p37"/>
          <p:cNvSpPr txBox="1"/>
          <p:nvPr/>
        </p:nvSpPr>
        <p:spPr>
          <a:xfrm>
            <a:off x="750094" y="689483"/>
            <a:ext cx="821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006241"/>
                </a:solidFill>
                <a:latin typeface="Noto Sans TC"/>
                <a:ea typeface="Noto Sans TC"/>
                <a:cs typeface="Noto Sans TC"/>
                <a:sym typeface="Noto Sans TC"/>
              </a:rPr>
              <a:t>Unchecked Exception（非受檢例外）</a:t>
            </a:r>
            <a:endParaRPr sz="1100"/>
          </a:p>
        </p:txBody>
      </p:sp>
      <p:sp>
        <p:nvSpPr>
          <p:cNvPr id="216" name="Google Shape;216;p37"/>
          <p:cNvSpPr/>
          <p:nvPr/>
        </p:nvSpPr>
        <p:spPr>
          <a:xfrm>
            <a:off x="571500" y="689483"/>
            <a:ext cx="85800" cy="457200"/>
          </a:xfrm>
          <a:prstGeom prst="rect">
            <a:avLst/>
          </a:prstGeom>
          <a:solidFill>
            <a:srgbClr val="00A55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7"/>
          <p:cNvSpPr txBox="1"/>
          <p:nvPr/>
        </p:nvSpPr>
        <p:spPr>
          <a:xfrm>
            <a:off x="1367700" y="2852025"/>
            <a:ext cx="6408600" cy="18105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try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zh-TW" sz="12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可能會拋出例外的程式碼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}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catch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ExceptionType1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e1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zh-TW" sz="12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處理 ExceptionType1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}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catch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ExceptionType2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e2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zh-TW" sz="12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處理 ExceptionType2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}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finally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zh-TW" sz="12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無論是否發生例外，這個區塊都會執行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8"/>
          <p:cNvSpPr txBox="1"/>
          <p:nvPr/>
        </p:nvSpPr>
        <p:spPr>
          <a:xfrm>
            <a:off x="750094" y="689483"/>
            <a:ext cx="821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006241"/>
                </a:solidFill>
                <a:latin typeface="Noto Sans TC"/>
                <a:ea typeface="Noto Sans TC"/>
                <a:cs typeface="Noto Sans TC"/>
                <a:sym typeface="Noto Sans TC"/>
              </a:rPr>
              <a:t>catch 順序示範</a:t>
            </a:r>
            <a:endParaRPr sz="1100"/>
          </a:p>
        </p:txBody>
      </p:sp>
      <p:sp>
        <p:nvSpPr>
          <p:cNvPr id="223" name="Google Shape;223;p38"/>
          <p:cNvSpPr/>
          <p:nvPr/>
        </p:nvSpPr>
        <p:spPr>
          <a:xfrm>
            <a:off x="571500" y="689483"/>
            <a:ext cx="85800" cy="457200"/>
          </a:xfrm>
          <a:prstGeom prst="rect">
            <a:avLst/>
          </a:prstGeom>
          <a:solidFill>
            <a:srgbClr val="00A55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8"/>
          <p:cNvSpPr txBox="1"/>
          <p:nvPr/>
        </p:nvSpPr>
        <p:spPr>
          <a:xfrm>
            <a:off x="1367700" y="1255525"/>
            <a:ext cx="6408600" cy="367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CatchOrderDemo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static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main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TW" sz="120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[]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args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try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throw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FileNotFoundException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TW" sz="12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"找不到設定檔"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}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catch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FileNotFoundException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i="1" lang="zh-TW" sz="12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✅ 子類別放前面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System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out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println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TW" sz="12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"檔案未找到："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getMessage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());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}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catch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IOException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i="1" lang="zh-TW" sz="12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✅ 父類別放後面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System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out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println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TW" sz="12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"IO 錯誤："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getMessage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());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}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catch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Exception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i="1" lang="zh-TW" sz="12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✅ 最大的父類別放最後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System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out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println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TW" sz="12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"其他錯誤："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getMessage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());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}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9"/>
          <p:cNvSpPr txBox="1"/>
          <p:nvPr/>
        </p:nvSpPr>
        <p:spPr>
          <a:xfrm>
            <a:off x="571500" y="1575300"/>
            <a:ext cx="821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從 Java 7 開始，可以在同一個 catch 中用 | 同時捕捉多種例外，前提是這些例外之間沒有繼承關係：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30" name="Google Shape;230;p39"/>
          <p:cNvSpPr txBox="1"/>
          <p:nvPr/>
        </p:nvSpPr>
        <p:spPr>
          <a:xfrm>
            <a:off x="750094" y="689483"/>
            <a:ext cx="821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006241"/>
                </a:solidFill>
                <a:latin typeface="Noto Sans TC"/>
                <a:ea typeface="Noto Sans TC"/>
                <a:cs typeface="Noto Sans TC"/>
                <a:sym typeface="Noto Sans TC"/>
              </a:rPr>
              <a:t>Java 7+ 的 Multi-catch 語法</a:t>
            </a:r>
            <a:endParaRPr sz="1100"/>
          </a:p>
        </p:txBody>
      </p:sp>
      <p:sp>
        <p:nvSpPr>
          <p:cNvPr id="231" name="Google Shape;231;p39"/>
          <p:cNvSpPr/>
          <p:nvPr/>
        </p:nvSpPr>
        <p:spPr>
          <a:xfrm>
            <a:off x="571500" y="689483"/>
            <a:ext cx="85800" cy="457200"/>
          </a:xfrm>
          <a:prstGeom prst="rect">
            <a:avLst/>
          </a:prstGeom>
          <a:solidFill>
            <a:srgbClr val="00A55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9"/>
          <p:cNvSpPr txBox="1"/>
          <p:nvPr/>
        </p:nvSpPr>
        <p:spPr>
          <a:xfrm>
            <a:off x="571500" y="1874881"/>
            <a:ext cx="6718200" cy="1281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try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zh-TW" sz="12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某些操作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}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catch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FileNotFoundException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|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ArithmeticException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zh-TW" sz="12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同時處理這兩種不同類型的例外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System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out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println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TW" sz="12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"發生例外："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getMessage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());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0"/>
          <p:cNvSpPr txBox="1"/>
          <p:nvPr/>
        </p:nvSpPr>
        <p:spPr>
          <a:xfrm>
            <a:off x="571500" y="1575300"/>
            <a:ext cx="821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rgbClr val="FF0000"/>
                </a:solidFill>
                <a:latin typeface="Noto Sans TC"/>
                <a:ea typeface="Noto Sans TC"/>
                <a:cs typeface="Noto Sans TC"/>
                <a:sym typeface="Noto Sans TC"/>
              </a:rPr>
              <a:t>throw</a:t>
            </a: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：手動拋出一個例外物件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38" name="Google Shape;238;p40"/>
          <p:cNvSpPr txBox="1"/>
          <p:nvPr/>
        </p:nvSpPr>
        <p:spPr>
          <a:xfrm>
            <a:off x="750094" y="689483"/>
            <a:ext cx="821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006241"/>
                </a:solidFill>
                <a:latin typeface="Noto Sans TC"/>
                <a:ea typeface="Noto Sans TC"/>
                <a:cs typeface="Noto Sans TC"/>
                <a:sym typeface="Noto Sans TC"/>
              </a:rPr>
              <a:t>例外的拋出與接住：throw 與 throws</a:t>
            </a:r>
            <a:endParaRPr sz="1100"/>
          </a:p>
        </p:txBody>
      </p:sp>
      <p:sp>
        <p:nvSpPr>
          <p:cNvPr id="239" name="Google Shape;239;p40"/>
          <p:cNvSpPr/>
          <p:nvPr/>
        </p:nvSpPr>
        <p:spPr>
          <a:xfrm>
            <a:off x="571500" y="689483"/>
            <a:ext cx="85800" cy="457200"/>
          </a:xfrm>
          <a:prstGeom prst="rect">
            <a:avLst/>
          </a:prstGeom>
          <a:solidFill>
            <a:srgbClr val="00A55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40"/>
          <p:cNvSpPr txBox="1"/>
          <p:nvPr/>
        </p:nvSpPr>
        <p:spPr>
          <a:xfrm>
            <a:off x="571500" y="1874879"/>
            <a:ext cx="6718200" cy="384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throw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IllegalArgumentException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TW" sz="12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"金額不可為負數"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1" name="Google Shape;241;p40"/>
          <p:cNvSpPr txBox="1"/>
          <p:nvPr/>
        </p:nvSpPr>
        <p:spPr>
          <a:xfrm>
            <a:off x="571500" y="2571750"/>
            <a:ext cx="821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rgbClr val="FF0000"/>
                </a:solidFill>
                <a:latin typeface="Noto Sans TC"/>
                <a:ea typeface="Noto Sans TC"/>
                <a:cs typeface="Noto Sans TC"/>
                <a:sym typeface="Noto Sans TC"/>
              </a:rPr>
              <a:t>throws：</a:t>
            </a: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宣告方法可能拋出的例外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42" name="Google Shape;242;p40"/>
          <p:cNvSpPr txBox="1"/>
          <p:nvPr/>
        </p:nvSpPr>
        <p:spPr>
          <a:xfrm>
            <a:off x="571500" y="2871322"/>
            <a:ext cx="6718200" cy="680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readFile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TW" sz="120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path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throws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IOException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zh-TW" sz="120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var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reader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FileReader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path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1"/>
          <p:cNvSpPr txBox="1"/>
          <p:nvPr/>
        </p:nvSpPr>
        <p:spPr>
          <a:xfrm>
            <a:off x="571500" y="1575300"/>
            <a:ext cx="821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當例外發生時，JVM 會沿著呼叫堆疊（Call Stack）往回找，看哪一層有對應的 </a:t>
            </a:r>
            <a:r>
              <a:rPr lang="zh-TW" sz="1200">
                <a:solidFill>
                  <a:srgbClr val="FF0000"/>
                </a:solidFill>
                <a:latin typeface="Noto Sans TC"/>
                <a:ea typeface="Noto Sans TC"/>
                <a:cs typeface="Noto Sans TC"/>
                <a:sym typeface="Noto Sans TC"/>
              </a:rPr>
              <a:t>catch</a:t>
            </a: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 可以接住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48" name="Google Shape;248;p41"/>
          <p:cNvSpPr txBox="1"/>
          <p:nvPr/>
        </p:nvSpPr>
        <p:spPr>
          <a:xfrm>
            <a:off x="750094" y="689483"/>
            <a:ext cx="821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006241"/>
                </a:solidFill>
                <a:latin typeface="Noto Sans TC"/>
                <a:ea typeface="Noto Sans TC"/>
                <a:cs typeface="Noto Sans TC"/>
                <a:sym typeface="Noto Sans TC"/>
              </a:rPr>
              <a:t>例外的傳播順序（Call Stack 追溯）</a:t>
            </a:r>
            <a:endParaRPr sz="1100"/>
          </a:p>
        </p:txBody>
      </p:sp>
      <p:sp>
        <p:nvSpPr>
          <p:cNvPr id="249" name="Google Shape;249;p41"/>
          <p:cNvSpPr/>
          <p:nvPr/>
        </p:nvSpPr>
        <p:spPr>
          <a:xfrm>
            <a:off x="571500" y="689483"/>
            <a:ext cx="85800" cy="457200"/>
          </a:xfrm>
          <a:prstGeom prst="rect">
            <a:avLst/>
          </a:prstGeom>
          <a:solidFill>
            <a:srgbClr val="00A55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41"/>
          <p:cNvSpPr txBox="1"/>
          <p:nvPr/>
        </p:nvSpPr>
        <p:spPr>
          <a:xfrm>
            <a:off x="571500" y="1874874"/>
            <a:ext cx="6718200" cy="1513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main() 呼叫 → methodA() 呼叫 → methodB() 呼叫 → methodC()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                                            ↑ 例外在這裡發生！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例外傳播方向（往回找 catch）：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methodC() → 沒有 try-catch → 拋給 methodB()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methodB() → 沒有 try-catch → 拋給 methodA()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methodA() → 有 catch！     → 在這裡被接住並處理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1" name="Google Shape;251;p41"/>
          <p:cNvSpPr txBox="1"/>
          <p:nvPr/>
        </p:nvSpPr>
        <p:spPr>
          <a:xfrm>
            <a:off x="571500" y="3502850"/>
            <a:ext cx="821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如果連 </a:t>
            </a:r>
            <a:r>
              <a:rPr lang="zh-TW" sz="1200">
                <a:solidFill>
                  <a:srgbClr val="FF0000"/>
                </a:solidFill>
                <a:latin typeface="Noto Sans TC"/>
                <a:ea typeface="Noto Sans TC"/>
                <a:cs typeface="Noto Sans TC"/>
                <a:sym typeface="Noto Sans TC"/>
              </a:rPr>
              <a:t>main</a:t>
            </a: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 都沒有 </a:t>
            </a:r>
            <a:r>
              <a:rPr lang="zh-TW" sz="1200">
                <a:solidFill>
                  <a:srgbClr val="FF0000"/>
                </a:solidFill>
                <a:latin typeface="Noto Sans TC"/>
                <a:ea typeface="Noto Sans TC"/>
                <a:cs typeface="Noto Sans TC"/>
                <a:sym typeface="Noto Sans TC"/>
              </a:rPr>
              <a:t>catch</a:t>
            </a: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 住，JVM 就會印出堆疊追蹤（</a:t>
            </a:r>
            <a:r>
              <a:rPr lang="zh-TW" sz="1200">
                <a:solidFill>
                  <a:srgbClr val="FF0000"/>
                </a:solidFill>
                <a:latin typeface="Noto Sans TC"/>
                <a:ea typeface="Noto Sans TC"/>
                <a:cs typeface="Noto Sans TC"/>
                <a:sym typeface="Noto Sans TC"/>
              </a:rPr>
              <a:t>Stack Trace</a:t>
            </a: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）並終止程式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2"/>
          <p:cNvSpPr txBox="1"/>
          <p:nvPr/>
        </p:nvSpPr>
        <p:spPr>
          <a:xfrm>
            <a:off x="571500" y="1575300"/>
            <a:ext cx="82137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finally 區塊幾乎在任何情況下都會執行，包括：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TC"/>
              <a:buChar char="●"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try 正常結束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TC"/>
              <a:buChar char="●"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try 中發生例外並被 catch 接住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TC"/>
              <a:buChar char="●"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catch 中又拋出新的例外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57" name="Google Shape;257;p42"/>
          <p:cNvSpPr txBox="1"/>
          <p:nvPr/>
        </p:nvSpPr>
        <p:spPr>
          <a:xfrm>
            <a:off x="750094" y="689483"/>
            <a:ext cx="821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006241"/>
                </a:solidFill>
                <a:latin typeface="Noto Sans TC"/>
                <a:ea typeface="Noto Sans TC"/>
                <a:cs typeface="Noto Sans TC"/>
                <a:sym typeface="Noto Sans TC"/>
              </a:rPr>
              <a:t>finally 的執行時機</a:t>
            </a:r>
            <a:endParaRPr sz="1100"/>
          </a:p>
        </p:txBody>
      </p:sp>
      <p:sp>
        <p:nvSpPr>
          <p:cNvPr id="258" name="Google Shape;258;p42"/>
          <p:cNvSpPr/>
          <p:nvPr/>
        </p:nvSpPr>
        <p:spPr>
          <a:xfrm>
            <a:off x="571500" y="689483"/>
            <a:ext cx="85800" cy="457200"/>
          </a:xfrm>
          <a:prstGeom prst="rect">
            <a:avLst/>
          </a:prstGeom>
          <a:solidFill>
            <a:srgbClr val="00A55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3"/>
          <p:cNvSpPr txBox="1"/>
          <p:nvPr/>
        </p:nvSpPr>
        <p:spPr>
          <a:xfrm>
            <a:off x="750094" y="689483"/>
            <a:ext cx="821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006241"/>
                </a:solidFill>
                <a:latin typeface="Noto Sans TC"/>
                <a:ea typeface="Noto Sans TC"/>
                <a:cs typeface="Noto Sans TC"/>
                <a:sym typeface="Noto Sans TC"/>
              </a:rPr>
              <a:t>finally 的執行時機</a:t>
            </a:r>
            <a:r>
              <a:rPr b="1" lang="zh-TW" sz="2500">
                <a:solidFill>
                  <a:srgbClr val="006241"/>
                </a:solidFill>
                <a:latin typeface="Noto Sans TC"/>
                <a:ea typeface="Noto Sans TC"/>
                <a:cs typeface="Noto Sans TC"/>
                <a:sym typeface="Noto Sans TC"/>
              </a:rPr>
              <a:t>（練習）</a:t>
            </a:r>
            <a:endParaRPr sz="1100"/>
          </a:p>
        </p:txBody>
      </p:sp>
      <p:sp>
        <p:nvSpPr>
          <p:cNvPr id="264" name="Google Shape;264;p43"/>
          <p:cNvSpPr/>
          <p:nvPr/>
        </p:nvSpPr>
        <p:spPr>
          <a:xfrm>
            <a:off x="571500" y="689483"/>
            <a:ext cx="85800" cy="457200"/>
          </a:xfrm>
          <a:prstGeom prst="rect">
            <a:avLst/>
          </a:prstGeom>
          <a:solidFill>
            <a:srgbClr val="00A55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43"/>
          <p:cNvSpPr txBox="1"/>
          <p:nvPr/>
        </p:nvSpPr>
        <p:spPr>
          <a:xfrm>
            <a:off x="1565650" y="1146675"/>
            <a:ext cx="6582600" cy="3829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ExceptionTest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static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main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TW" sz="120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[]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args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try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throwIOExceptionManually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}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catch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Exception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System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out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println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}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private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static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throwIOExceptionManually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()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throws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Exception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try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throw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IOException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}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catch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Exception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throw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;         </a:t>
            </a:r>
            <a:r>
              <a:rPr i="1" lang="zh-TW" sz="12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重新拋出例外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}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finally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System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out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println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TW" sz="12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"finally"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}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/>
          <p:nvPr/>
        </p:nvSpPr>
        <p:spPr>
          <a:xfrm>
            <a:off x="750094" y="689483"/>
            <a:ext cx="821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006241"/>
                </a:solidFill>
                <a:latin typeface="Noto Sans TC"/>
                <a:ea typeface="Noto Sans TC"/>
                <a:cs typeface="Noto Sans TC"/>
                <a:sym typeface="Noto Sans TC"/>
              </a:rPr>
              <a:t>finally 的執行時機（</a:t>
            </a:r>
            <a:r>
              <a:rPr b="1" lang="zh-TW" sz="2500">
                <a:solidFill>
                  <a:srgbClr val="006241"/>
                </a:solidFill>
                <a:latin typeface="Noto Sans TC"/>
                <a:ea typeface="Noto Sans TC"/>
                <a:cs typeface="Noto Sans TC"/>
                <a:sym typeface="Noto Sans TC"/>
              </a:rPr>
              <a:t>結果</a:t>
            </a:r>
            <a:r>
              <a:rPr b="1" lang="zh-TW" sz="2500">
                <a:solidFill>
                  <a:srgbClr val="006241"/>
                </a:solidFill>
                <a:latin typeface="Noto Sans TC"/>
                <a:ea typeface="Noto Sans TC"/>
                <a:cs typeface="Noto Sans TC"/>
                <a:sym typeface="Noto Sans TC"/>
              </a:rPr>
              <a:t>）</a:t>
            </a:r>
            <a:endParaRPr sz="1100"/>
          </a:p>
        </p:txBody>
      </p:sp>
      <p:sp>
        <p:nvSpPr>
          <p:cNvPr id="271" name="Google Shape;271;p44"/>
          <p:cNvSpPr/>
          <p:nvPr/>
        </p:nvSpPr>
        <p:spPr>
          <a:xfrm>
            <a:off x="571500" y="689483"/>
            <a:ext cx="85800" cy="457200"/>
          </a:xfrm>
          <a:prstGeom prst="rect">
            <a:avLst/>
          </a:prstGeom>
          <a:solidFill>
            <a:srgbClr val="00A55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44"/>
          <p:cNvSpPr txBox="1"/>
          <p:nvPr/>
        </p:nvSpPr>
        <p:spPr>
          <a:xfrm>
            <a:off x="1565650" y="1146675"/>
            <a:ext cx="6582600" cy="3829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ExceptionTest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static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main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TW" sz="120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[]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args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try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throwIOExceptionManually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}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catch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Exception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System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out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println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}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private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static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throwIOExceptionManually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()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throws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Exception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try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throw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IOException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}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catch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Exception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throw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;         </a:t>
            </a:r>
            <a:r>
              <a:rPr i="1" lang="zh-TW" sz="12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重新拋出例外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} </a:t>
            </a:r>
            <a:r>
              <a:rPr b="1" lang="zh-TW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finally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System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out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println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TW" sz="12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"finally"</a:t>
            </a: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    }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73" name="Google Shape;273;p44"/>
          <p:cNvSpPr txBox="1"/>
          <p:nvPr/>
        </p:nvSpPr>
        <p:spPr>
          <a:xfrm>
            <a:off x="6188950" y="4387874"/>
            <a:ext cx="1959300" cy="58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finally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Roboto Mono"/>
                <a:ea typeface="Roboto Mono"/>
                <a:cs typeface="Roboto Mono"/>
                <a:sym typeface="Roboto Mono"/>
              </a:rPr>
              <a:t>java.io.IOException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5"/>
          <p:cNvSpPr txBox="1"/>
          <p:nvPr/>
        </p:nvSpPr>
        <p:spPr>
          <a:xfrm>
            <a:off x="371475" y="2079139"/>
            <a:ext cx="8401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3200">
                <a:solidFill>
                  <a:srgbClr val="006241"/>
                </a:solidFill>
                <a:latin typeface="Noto Sans TC"/>
                <a:ea typeface="Noto Sans TC"/>
                <a:cs typeface="Noto Sans TC"/>
                <a:sym typeface="Noto Sans TC"/>
              </a:rPr>
              <a:t>例外處理語法</a:t>
            </a:r>
            <a:endParaRPr sz="1100"/>
          </a:p>
        </p:txBody>
      </p:sp>
      <p:sp>
        <p:nvSpPr>
          <p:cNvPr id="279" name="Google Shape;279;p45"/>
          <p:cNvSpPr txBox="1"/>
          <p:nvPr/>
        </p:nvSpPr>
        <p:spPr>
          <a:xfrm>
            <a:off x="1357338" y="3408263"/>
            <a:ext cx="6429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sz="15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try-with-resources（Java 7+）</a:t>
            </a:r>
            <a:endParaRPr sz="15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6"/>
          <p:cNvSpPr txBox="1"/>
          <p:nvPr/>
        </p:nvSpPr>
        <p:spPr>
          <a:xfrm>
            <a:off x="571500" y="1575300"/>
            <a:ext cx="82137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TC"/>
              <a:buChar char="●"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在傳統的 try-catch-finally 寫法中，釋放資源的程式碼往往又臭又長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3048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TC"/>
              <a:buChar char="●"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finally 區塊冗長、容易忘記關閉資源、關閉資源本身又需要額外的 try-catch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85" name="Google Shape;285;p46"/>
          <p:cNvSpPr txBox="1"/>
          <p:nvPr/>
        </p:nvSpPr>
        <p:spPr>
          <a:xfrm>
            <a:off x="750094" y="689483"/>
            <a:ext cx="821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006241"/>
                </a:solidFill>
                <a:latin typeface="Noto Sans TC"/>
                <a:ea typeface="Noto Sans TC"/>
                <a:cs typeface="Noto Sans TC"/>
                <a:sym typeface="Noto Sans TC"/>
              </a:rPr>
              <a:t>為什麼需要 try-with-resources？</a:t>
            </a:r>
            <a:endParaRPr sz="1100"/>
          </a:p>
        </p:txBody>
      </p:sp>
      <p:sp>
        <p:nvSpPr>
          <p:cNvPr id="286" name="Google Shape;286;p46"/>
          <p:cNvSpPr/>
          <p:nvPr/>
        </p:nvSpPr>
        <p:spPr>
          <a:xfrm>
            <a:off x="571500" y="689483"/>
            <a:ext cx="85800" cy="457200"/>
          </a:xfrm>
          <a:prstGeom prst="rect">
            <a:avLst/>
          </a:prstGeom>
          <a:solidFill>
            <a:srgbClr val="00A55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7" name="Google Shape;28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1875" y="2159450"/>
            <a:ext cx="3580249" cy="2779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7"/>
          <p:cNvSpPr txBox="1"/>
          <p:nvPr/>
        </p:nvSpPr>
        <p:spPr>
          <a:xfrm>
            <a:off x="571500" y="1575300"/>
            <a:ext cx="82137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只要資源類別有實作 </a:t>
            </a:r>
            <a:r>
              <a:rPr lang="zh-TW" sz="1200">
                <a:solidFill>
                  <a:srgbClr val="FF0000"/>
                </a:solidFill>
                <a:latin typeface="Noto Sans TC"/>
                <a:ea typeface="Noto Sans TC"/>
                <a:cs typeface="Noto Sans TC"/>
                <a:sym typeface="Noto Sans TC"/>
              </a:rPr>
              <a:t>AutoCloseable</a:t>
            </a: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（或其子介面 Closeable），就可以放在 try(...) 的小括號中，</a:t>
            </a:r>
            <a:b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</a:b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JVM 會在 try 區塊結束時</a:t>
            </a:r>
            <a:r>
              <a:rPr lang="zh-TW" sz="1200">
                <a:solidFill>
                  <a:srgbClr val="FF0000"/>
                </a:solidFill>
                <a:latin typeface="Noto Sans TC"/>
                <a:ea typeface="Noto Sans TC"/>
                <a:cs typeface="Noto Sans TC"/>
                <a:sym typeface="Noto Sans TC"/>
              </a:rPr>
              <a:t>自動呼叫 close() 方法</a:t>
            </a:r>
            <a:endParaRPr sz="1200">
              <a:solidFill>
                <a:srgbClr val="FF0000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93" name="Google Shape;293;p47"/>
          <p:cNvSpPr txBox="1"/>
          <p:nvPr/>
        </p:nvSpPr>
        <p:spPr>
          <a:xfrm>
            <a:off x="750094" y="689483"/>
            <a:ext cx="821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006241"/>
                </a:solidFill>
                <a:latin typeface="Noto Sans TC"/>
                <a:ea typeface="Noto Sans TC"/>
                <a:cs typeface="Noto Sans TC"/>
                <a:sym typeface="Noto Sans TC"/>
              </a:rPr>
              <a:t>try-with-resources 語法</a:t>
            </a:r>
            <a:endParaRPr sz="1100"/>
          </a:p>
        </p:txBody>
      </p:sp>
      <p:sp>
        <p:nvSpPr>
          <p:cNvPr id="294" name="Google Shape;294;p47"/>
          <p:cNvSpPr/>
          <p:nvPr/>
        </p:nvSpPr>
        <p:spPr>
          <a:xfrm>
            <a:off x="571500" y="689483"/>
            <a:ext cx="85800" cy="457200"/>
          </a:xfrm>
          <a:prstGeom prst="rect">
            <a:avLst/>
          </a:prstGeom>
          <a:solidFill>
            <a:srgbClr val="00A55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47"/>
          <p:cNvSpPr txBox="1"/>
          <p:nvPr/>
        </p:nvSpPr>
        <p:spPr>
          <a:xfrm>
            <a:off x="1422300" y="2194375"/>
            <a:ext cx="6299400" cy="2704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1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java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io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FileReader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1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java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io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BufferedReader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1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java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io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IOException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1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1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1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TryWithResourcesDemo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zh-TW" sz="11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1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static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10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main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TW" sz="110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[] 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args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i="1" lang="zh-TW" sz="11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資源宣告在 try 的小括號中，結束時自動關閉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zh-TW" sz="11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try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zh-TW" sz="110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var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br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1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1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BufferedReader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zh-TW" sz="11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FileReader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TW" sz="11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"data.txt"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))) {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System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out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println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br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readLine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());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       } </a:t>
            </a:r>
            <a:r>
              <a:rPr b="1" lang="zh-TW" sz="11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catch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IOException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System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out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println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TW" sz="11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"讀取失敗："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1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getMessage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());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       }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i="1" lang="zh-TW" sz="11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不需要 finally 手動關閉！br.close() 會自動被呼叫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8"/>
          <p:cNvSpPr txBox="1"/>
          <p:nvPr/>
        </p:nvSpPr>
        <p:spPr>
          <a:xfrm>
            <a:off x="571500" y="1575300"/>
            <a:ext cx="821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多個資源之間用分號</a:t>
            </a:r>
            <a:r>
              <a:rPr lang="zh-TW" sz="1200">
                <a:solidFill>
                  <a:srgbClr val="FF0000"/>
                </a:solidFill>
                <a:latin typeface="Noto Sans TC"/>
                <a:ea typeface="Noto Sans TC"/>
                <a:cs typeface="Noto Sans TC"/>
                <a:sym typeface="Noto Sans TC"/>
              </a:rPr>
              <a:t> ; </a:t>
            </a: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隔開，關閉順序與宣告順序相反（後宣告的先關閉）：</a:t>
            </a:r>
            <a:endParaRPr sz="1200">
              <a:solidFill>
                <a:srgbClr val="FF0000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01" name="Google Shape;301;p48"/>
          <p:cNvSpPr txBox="1"/>
          <p:nvPr/>
        </p:nvSpPr>
        <p:spPr>
          <a:xfrm>
            <a:off x="750094" y="689483"/>
            <a:ext cx="821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006241"/>
                </a:solidFill>
                <a:latin typeface="Noto Sans TC"/>
                <a:ea typeface="Noto Sans TC"/>
                <a:cs typeface="Noto Sans TC"/>
                <a:sym typeface="Noto Sans TC"/>
              </a:rPr>
              <a:t>多個資源的寫法</a:t>
            </a:r>
            <a:endParaRPr sz="1100"/>
          </a:p>
        </p:txBody>
      </p:sp>
      <p:sp>
        <p:nvSpPr>
          <p:cNvPr id="302" name="Google Shape;302;p48"/>
          <p:cNvSpPr/>
          <p:nvPr/>
        </p:nvSpPr>
        <p:spPr>
          <a:xfrm>
            <a:off x="571500" y="689483"/>
            <a:ext cx="85800" cy="457200"/>
          </a:xfrm>
          <a:prstGeom prst="rect">
            <a:avLst/>
          </a:prstGeom>
          <a:solidFill>
            <a:srgbClr val="00A55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48"/>
          <p:cNvSpPr txBox="1"/>
          <p:nvPr/>
        </p:nvSpPr>
        <p:spPr>
          <a:xfrm>
            <a:off x="1422300" y="1840600"/>
            <a:ext cx="6299400" cy="31668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1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java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io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1" lang="zh-TW" sz="11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1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1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1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MultiResourceDemo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zh-TW" sz="11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1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static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10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main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TW" sz="110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[] 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args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zh-TW" sz="11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try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lang="zh-TW" sz="110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var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fr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1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1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FileReader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TW" sz="11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"data.txt"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);       </a:t>
            </a:r>
            <a:r>
              <a:rPr i="1" lang="zh-TW" sz="11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第一個開啟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lang="zh-TW" sz="110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var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br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1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1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BufferedReader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fr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)             </a:t>
            </a:r>
            <a:r>
              <a:rPr i="1" lang="zh-TW" sz="11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第二個開啟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       ) {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lang="zh-TW" sz="110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line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b="1" lang="zh-TW" sz="11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while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((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line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1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br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readLine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()) </a:t>
            </a:r>
            <a:r>
              <a:rPr b="1" lang="zh-TW" sz="11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!=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10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               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System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out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println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line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           }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       } </a:t>
            </a:r>
            <a:r>
              <a:rPr b="1" lang="zh-TW" sz="11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catch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IOException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System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out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println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TW" sz="11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"錯誤："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1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getMessage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());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       }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i="1" lang="zh-TW" sz="11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關閉順序：br 先關 → fr 再關（與宣告順序相反）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9"/>
          <p:cNvSpPr txBox="1"/>
          <p:nvPr/>
        </p:nvSpPr>
        <p:spPr>
          <a:xfrm>
            <a:off x="371475" y="2079139"/>
            <a:ext cx="8401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3200">
                <a:solidFill>
                  <a:srgbClr val="006241"/>
                </a:solidFill>
                <a:latin typeface="Noto Sans TC"/>
                <a:ea typeface="Noto Sans TC"/>
                <a:cs typeface="Noto Sans TC"/>
                <a:sym typeface="Noto Sans TC"/>
              </a:rPr>
              <a:t>例外</a:t>
            </a:r>
            <a:r>
              <a:rPr b="1" lang="zh-TW" sz="3200">
                <a:solidFill>
                  <a:srgbClr val="006241"/>
                </a:solidFill>
                <a:latin typeface="Noto Sans TC"/>
                <a:ea typeface="Noto Sans TC"/>
                <a:cs typeface="Noto Sans TC"/>
                <a:sym typeface="Noto Sans TC"/>
              </a:rPr>
              <a:t> 練習</a:t>
            </a:r>
            <a:endParaRPr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0"/>
          <p:cNvSpPr txBox="1"/>
          <p:nvPr/>
        </p:nvSpPr>
        <p:spPr>
          <a:xfrm>
            <a:off x="571500" y="1575300"/>
            <a:ext cx="8213700" cy="22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建立類別 ExceptionDemo.java，將下列程式片段置入 main 方法：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要求：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TC"/>
              <a:buChar char="●"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加上 try-catch-finally 區塊使程式可正常執行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TC"/>
              <a:buChar char="●"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catch 區塊印出例外發生原因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TC"/>
              <a:buChar char="●"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finally 區塊印出 "Finally Block"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14" name="Google Shape;314;p50"/>
          <p:cNvSpPr txBox="1"/>
          <p:nvPr/>
        </p:nvSpPr>
        <p:spPr>
          <a:xfrm>
            <a:off x="750094" y="689483"/>
            <a:ext cx="821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006241"/>
                </a:solidFill>
                <a:latin typeface="Noto Sans TC"/>
                <a:ea typeface="Noto Sans TC"/>
                <a:cs typeface="Noto Sans TC"/>
                <a:sym typeface="Noto Sans TC"/>
              </a:rPr>
              <a:t>練習一：try-catch-finally 基礎</a:t>
            </a:r>
            <a:endParaRPr sz="1100"/>
          </a:p>
        </p:txBody>
      </p:sp>
      <p:sp>
        <p:nvSpPr>
          <p:cNvPr id="315" name="Google Shape;315;p50"/>
          <p:cNvSpPr/>
          <p:nvPr/>
        </p:nvSpPr>
        <p:spPr>
          <a:xfrm>
            <a:off x="571500" y="689483"/>
            <a:ext cx="85800" cy="457200"/>
          </a:xfrm>
          <a:prstGeom prst="rect">
            <a:avLst/>
          </a:prstGeom>
          <a:solidFill>
            <a:srgbClr val="00A55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50"/>
          <p:cNvSpPr txBox="1"/>
          <p:nvPr/>
        </p:nvSpPr>
        <p:spPr>
          <a:xfrm>
            <a:off x="571500" y="1895025"/>
            <a:ext cx="6299400" cy="384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FileReader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1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TW" sz="11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TW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FileReader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TW" sz="11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"D:/testException.txt"</a:t>
            </a:r>
            <a:r>
              <a:rPr lang="zh-TW" sz="110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1"/>
          <p:cNvSpPr txBox="1"/>
          <p:nvPr/>
        </p:nvSpPr>
        <p:spPr>
          <a:xfrm>
            <a:off x="571500" y="1575300"/>
            <a:ext cx="8213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預期輸出（檔案不存在時）：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預期輸出（檔案存在時）：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22" name="Google Shape;322;p51"/>
          <p:cNvSpPr txBox="1"/>
          <p:nvPr/>
        </p:nvSpPr>
        <p:spPr>
          <a:xfrm>
            <a:off x="750094" y="689483"/>
            <a:ext cx="821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006241"/>
                </a:solidFill>
                <a:latin typeface="Noto Sans TC"/>
                <a:ea typeface="Noto Sans TC"/>
                <a:cs typeface="Noto Sans TC"/>
                <a:sym typeface="Noto Sans TC"/>
              </a:rPr>
              <a:t>練習一：try-catch-finally 基礎</a:t>
            </a:r>
            <a:endParaRPr sz="1100"/>
          </a:p>
        </p:txBody>
      </p:sp>
      <p:sp>
        <p:nvSpPr>
          <p:cNvPr id="323" name="Google Shape;323;p51"/>
          <p:cNvSpPr/>
          <p:nvPr/>
        </p:nvSpPr>
        <p:spPr>
          <a:xfrm>
            <a:off x="571500" y="689483"/>
            <a:ext cx="85800" cy="457200"/>
          </a:xfrm>
          <a:prstGeom prst="rect">
            <a:avLst/>
          </a:prstGeom>
          <a:solidFill>
            <a:srgbClr val="00A55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51"/>
          <p:cNvSpPr txBox="1"/>
          <p:nvPr/>
        </p:nvSpPr>
        <p:spPr>
          <a:xfrm>
            <a:off x="571500" y="1895025"/>
            <a:ext cx="6299400" cy="513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Catch Block, Error Message：D:\testException.txt（系統找不到指定的檔案。）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Finally Block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25" name="Google Shape;325;p51"/>
          <p:cNvSpPr txBox="1"/>
          <p:nvPr/>
        </p:nvSpPr>
        <p:spPr>
          <a:xfrm>
            <a:off x="571500" y="3054350"/>
            <a:ext cx="6299400" cy="513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檔案開啟成功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Finally Block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2"/>
          <p:cNvSpPr txBox="1"/>
          <p:nvPr/>
        </p:nvSpPr>
        <p:spPr>
          <a:xfrm>
            <a:off x="571500" y="1575300"/>
            <a:ext cx="8213700" cy="22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建立類別 ExceptionHandle.java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要求：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TC"/>
              <a:buChar char="●"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產生介於 1~100 的隨機整數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TC"/>
              <a:buChar char="●"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使用 % 運算子判斷奇偶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TC"/>
              <a:buChar char="●"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若為奇數：印出該數字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TC"/>
              <a:buChar char="●"/>
            </a:pPr>
            <a:r>
              <a:rPr lang="zh-TW" sz="120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若為偶數：拋出 Exception 並印出該數字</a:t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31" name="Google Shape;331;p52"/>
          <p:cNvSpPr txBox="1"/>
          <p:nvPr/>
        </p:nvSpPr>
        <p:spPr>
          <a:xfrm>
            <a:off x="750094" y="689483"/>
            <a:ext cx="821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006241"/>
                </a:solidFill>
                <a:latin typeface="Noto Sans TC"/>
                <a:ea typeface="Noto Sans TC"/>
                <a:cs typeface="Noto Sans TC"/>
                <a:sym typeface="Noto Sans TC"/>
              </a:rPr>
              <a:t>練習二：手動拋出例外</a:t>
            </a:r>
            <a:endParaRPr sz="1100"/>
          </a:p>
        </p:txBody>
      </p:sp>
      <p:sp>
        <p:nvSpPr>
          <p:cNvPr id="332" name="Google Shape;332;p52"/>
          <p:cNvSpPr/>
          <p:nvPr/>
        </p:nvSpPr>
        <p:spPr>
          <a:xfrm>
            <a:off x="571500" y="689483"/>
            <a:ext cx="85800" cy="457200"/>
          </a:xfrm>
          <a:prstGeom prst="rect">
            <a:avLst/>
          </a:prstGeom>
          <a:solidFill>
            <a:srgbClr val="00A55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